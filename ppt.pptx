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F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2599" cy="17525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37866" y="0"/>
            <a:ext cx="1750132" cy="17525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3093741" y="4179322"/>
            <a:ext cx="2431415" cy="66675"/>
          </a:xfrm>
          <a:custGeom>
            <a:avLst/>
            <a:gdLst/>
            <a:ahLst/>
            <a:cxnLst/>
            <a:rect l="l" t="t" r="r" b="b"/>
            <a:pathLst>
              <a:path w="2431415" h="66675">
                <a:moveTo>
                  <a:pt x="2431033" y="66675"/>
                </a:moveTo>
                <a:lnTo>
                  <a:pt x="0" y="66675"/>
                </a:lnTo>
                <a:lnTo>
                  <a:pt x="0" y="0"/>
                </a:lnTo>
                <a:lnTo>
                  <a:pt x="2431033" y="0"/>
                </a:lnTo>
                <a:lnTo>
                  <a:pt x="2431033" y="66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F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752599" cy="17525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37866" y="0"/>
            <a:ext cx="1750132" cy="1752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0089" y="678205"/>
            <a:ext cx="7976234" cy="1781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12700" y="2923293"/>
            <a:ext cx="9838055" cy="493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9240">
              <a:lnSpc>
                <a:spcPct val="100000"/>
              </a:lnSpc>
              <a:spcBef>
                <a:spcPts val="105"/>
              </a:spcBef>
            </a:pPr>
            <a:r>
              <a:rPr sz="6600" spc="-140" dirty="0"/>
              <a:t>Xen-</a:t>
            </a:r>
            <a:r>
              <a:rPr sz="6600" spc="-40" dirty="0"/>
              <a:t>V-</a:t>
            </a:r>
            <a:r>
              <a:rPr sz="6600" spc="-135" dirty="0"/>
              <a:t>Thon</a:t>
            </a:r>
            <a:endParaRPr sz="6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E1D12-72AE-D184-4255-0B9E1F7CBEAF}"/>
              </a:ext>
            </a:extLst>
          </p:cNvPr>
          <p:cNvSpPr txBox="1"/>
          <p:nvPr/>
        </p:nvSpPr>
        <p:spPr>
          <a:xfrm>
            <a:off x="1102406" y="2628900"/>
            <a:ext cx="16611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/>
              <a:t>Problem Statement : </a:t>
            </a:r>
            <a:r>
              <a:rPr lang="en-IN" sz="4400" b="1" dirty="0">
                <a:latin typeface="+mj-lt"/>
              </a:rPr>
              <a:t>AI-Assisted</a:t>
            </a:r>
            <a:r>
              <a:rPr lang="en-IN" sz="4400" b="1" dirty="0"/>
              <a:t> Protein Function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>
                <a:effectLst/>
              </a:rPr>
              <a:t>Theme : </a:t>
            </a:r>
            <a:r>
              <a:rPr lang="en-IN" sz="4400" b="1" dirty="0"/>
              <a:t>Computational Biotechnology</a:t>
            </a:r>
            <a:endParaRPr lang="en-IN" sz="4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/>
              <a:t>PS Category : </a:t>
            </a:r>
            <a:r>
              <a:rPr lang="en-IN" sz="4400" b="1" dirty="0"/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>
                <a:effectLst/>
              </a:rPr>
              <a:t>Team Members</a:t>
            </a:r>
            <a:r>
              <a:rPr lang="en-IN" sz="4400" b="1" dirty="0"/>
              <a:t> :</a:t>
            </a:r>
            <a:endParaRPr lang="en-IN" sz="4400" b="1" dirty="0">
              <a:effectLst/>
            </a:endParaRPr>
          </a:p>
          <a:p>
            <a:r>
              <a:rPr lang="en-IN" sz="4400" dirty="0">
                <a:effectLst/>
              </a:rPr>
              <a:t>        - Kishor Bhuvaneswaran M</a:t>
            </a:r>
          </a:p>
          <a:p>
            <a:r>
              <a:rPr lang="en-IN" sz="4400" dirty="0"/>
              <a:t>        - </a:t>
            </a:r>
            <a:r>
              <a:rPr lang="en-IN" sz="4400" dirty="0" err="1"/>
              <a:t>Mathubharathi</a:t>
            </a:r>
            <a:r>
              <a:rPr lang="en-IN" sz="4400" dirty="0"/>
              <a:t> A</a:t>
            </a:r>
          </a:p>
          <a:p>
            <a:r>
              <a:rPr lang="en-IN" sz="4400" dirty="0">
                <a:effectLst/>
              </a:rPr>
              <a:t>        - Bala Prakash B</a:t>
            </a:r>
          </a:p>
          <a:p>
            <a:r>
              <a:rPr lang="en-IN" sz="4400" dirty="0"/>
              <a:t>        - Dharshana 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>
                <a:effectLst/>
              </a:rPr>
              <a:t>College N</a:t>
            </a:r>
            <a:r>
              <a:rPr lang="en-IN" sz="4400" dirty="0"/>
              <a:t>ame : PSNA College of Engineering and Technology </a:t>
            </a:r>
            <a:endParaRPr lang="en-IN" sz="4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313" rIns="0" bIns="0" rtlCol="0">
            <a:spAutoFit/>
          </a:bodyPr>
          <a:lstStyle/>
          <a:p>
            <a:pPr marL="1629410">
              <a:lnSpc>
                <a:spcPct val="100000"/>
              </a:lnSpc>
              <a:spcBef>
                <a:spcPts val="110"/>
              </a:spcBef>
            </a:pPr>
            <a:r>
              <a:rPr sz="6400" spc="-160" dirty="0"/>
              <a:t>Introduction</a:t>
            </a:r>
            <a:endParaRPr sz="6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268D1-8545-1FEF-A90B-B2188275B0D5}"/>
              </a:ext>
            </a:extLst>
          </p:cNvPr>
          <p:cNvSpPr txBox="1"/>
          <p:nvPr/>
        </p:nvSpPr>
        <p:spPr>
          <a:xfrm>
            <a:off x="914400" y="3292624"/>
            <a:ext cx="8763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Modern sequencing technologies generate protein sequences far faster than they can be experimentally analyzed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Determining protein function through wet-lab experiments requires significant time, cost, and expertise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As a result, a large number of proteins remain functionally unannotated or partially understood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Computational analysis of amino acid sequences offers a rapid way to infer functional characteristics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This project applies machine learning to assist coarse-grained protein function classification</a:t>
            </a:r>
            <a:endParaRPr lang="en-IN" sz="2400" dirty="0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57766B2F-3E6E-B788-0374-782644CD1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" b="18"/>
          <a:stretch/>
        </p:blipFill>
        <p:spPr>
          <a:xfrm>
            <a:off x="11353800" y="2283522"/>
            <a:ext cx="5486400" cy="7304379"/>
          </a:xfrm>
          <a:prstGeom prst="roundRect">
            <a:avLst>
              <a:gd name="adj" fmla="val 7206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646" rIns="0" bIns="0" rtlCol="0">
            <a:spAutoFit/>
          </a:bodyPr>
          <a:lstStyle/>
          <a:p>
            <a:pPr marL="777240">
              <a:lnSpc>
                <a:spcPct val="100000"/>
              </a:lnSpc>
              <a:spcBef>
                <a:spcPts val="140"/>
              </a:spcBef>
            </a:pPr>
            <a:r>
              <a:rPr sz="5900" spc="-65" dirty="0"/>
              <a:t>Problem</a:t>
            </a:r>
            <a:r>
              <a:rPr sz="5900" spc="-254" dirty="0"/>
              <a:t> </a:t>
            </a:r>
            <a:r>
              <a:rPr sz="5900" spc="-60" dirty="0"/>
              <a:t>statement</a:t>
            </a:r>
            <a:endParaRPr sz="5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D62E0-C52C-F877-87B9-D41310040BC6}"/>
              </a:ext>
            </a:extLst>
          </p:cNvPr>
          <p:cNvSpPr txBox="1"/>
          <p:nvPr/>
        </p:nvSpPr>
        <p:spPr>
          <a:xfrm>
            <a:off x="581339" y="3307510"/>
            <a:ext cx="83340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Protein sequencing technologies generate data faster than functional validation can be performed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Experimental determination of protein function is expensive, slow, and not scalable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A large proportion of protein sequences lack reliable functional classification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Existing computational tools are often complex, opaque, or focused on fine-grained annotations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There is a need for a fast, interpretable system to classify protein function using sequence data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80B77-EFA3-81C5-0059-D5D163FC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238" y="3162300"/>
            <a:ext cx="7844675" cy="5262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569" rIns="0" bIns="0" rtlCol="0">
            <a:spAutoFit/>
          </a:bodyPr>
          <a:lstStyle/>
          <a:p>
            <a:pPr marL="2052320">
              <a:lnSpc>
                <a:spcPct val="100000"/>
              </a:lnSpc>
              <a:spcBef>
                <a:spcPts val="120"/>
              </a:spcBef>
            </a:pPr>
            <a:r>
              <a:rPr sz="6050" spc="-90" dirty="0"/>
              <a:t>Objectives</a:t>
            </a:r>
            <a:endParaRPr sz="60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51FF5-0175-80DF-AE3A-8E0FABA238DE}"/>
              </a:ext>
            </a:extLst>
          </p:cNvPr>
          <p:cNvSpPr txBox="1"/>
          <p:nvPr/>
        </p:nvSpPr>
        <p:spPr>
          <a:xfrm>
            <a:off x="1295400" y="3390900"/>
            <a:ext cx="9525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To develop a machine learning–based system for protein function classification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To extract biologically meaningful features from amino acid sequences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To classify proteins into broad functional categories using sequence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To evaluate model performance against a random baseline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To demonstrate a working, reproducible prediction prototype</a:t>
            </a: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5883" y="419100"/>
            <a:ext cx="7976234" cy="1781228"/>
          </a:xfrm>
          <a:prstGeom prst="rect">
            <a:avLst/>
          </a:prstGeom>
        </p:spPr>
        <p:txBody>
          <a:bodyPr vert="horz" wrap="square" lIns="0" tIns="23373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4500" spc="-45" dirty="0"/>
              <a:t>Methodology/Technical</a:t>
            </a:r>
            <a:r>
              <a:rPr sz="4500" spc="-160" dirty="0"/>
              <a:t> </a:t>
            </a:r>
            <a:r>
              <a:rPr sz="4500" spc="-105" dirty="0"/>
              <a:t>approach</a:t>
            </a:r>
            <a:endParaRPr sz="4500" dirty="0"/>
          </a:p>
          <a:p>
            <a:pPr marR="520065" algn="ctr">
              <a:lnSpc>
                <a:spcPct val="100000"/>
              </a:lnSpc>
              <a:spcBef>
                <a:spcPts val="919"/>
              </a:spcBef>
              <a:tabLst>
                <a:tab pos="1434465" algn="l"/>
              </a:tabLst>
            </a:pPr>
            <a:r>
              <a:rPr spc="-10" dirty="0"/>
              <a:t>(flow</a:t>
            </a:r>
            <a:r>
              <a:rPr dirty="0"/>
              <a:t>	</a:t>
            </a:r>
            <a:r>
              <a:rPr spc="-10" dirty="0"/>
              <a:t>chart/Images)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9ABAB-5C22-93AC-9F39-08BB379E6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706886"/>
            <a:ext cx="11582400" cy="6322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55AB4-00FA-1E1C-46A8-10684BE60533}"/>
              </a:ext>
            </a:extLst>
          </p:cNvPr>
          <p:cNvSpPr txBox="1"/>
          <p:nvPr/>
        </p:nvSpPr>
        <p:spPr>
          <a:xfrm>
            <a:off x="12137923" y="3236803"/>
            <a:ext cx="6172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Features Used (24 Total):</a:t>
            </a:r>
          </a:p>
          <a:p>
            <a:r>
              <a:rPr lang="en-IN" sz="2400" dirty="0"/>
              <a:t>• Amino Acid Composition: 20 features (frequency of each amino acid)</a:t>
            </a:r>
          </a:p>
          <a:p>
            <a:r>
              <a:rPr lang="en-IN" sz="2400" dirty="0"/>
              <a:t>• Sequence Length: 1 feature</a:t>
            </a:r>
          </a:p>
          <a:p>
            <a:r>
              <a:rPr lang="en-IN" sz="2400" dirty="0"/>
              <a:t>• Molecular Weight: 1 feature</a:t>
            </a:r>
          </a:p>
          <a:p>
            <a:r>
              <a:rPr lang="en-IN" sz="2400" dirty="0"/>
              <a:t>• Isoelectric Point (</a:t>
            </a:r>
            <a:r>
              <a:rPr lang="en-IN" sz="2400" dirty="0" err="1"/>
              <a:t>pI</a:t>
            </a:r>
            <a:r>
              <a:rPr lang="en-IN" sz="2400" dirty="0"/>
              <a:t>): 1 feature</a:t>
            </a:r>
          </a:p>
          <a:p>
            <a:r>
              <a:rPr lang="en-IN" sz="2400" dirty="0"/>
              <a:t>• GRAVY Score (hydrophobicity): 1 feature</a:t>
            </a:r>
          </a:p>
          <a:p>
            <a:endParaRPr lang="en-IN" sz="2400" dirty="0"/>
          </a:p>
          <a:p>
            <a:r>
              <a:rPr lang="en-IN" sz="2400" b="1" dirty="0"/>
              <a:t>Why Random Forest?</a:t>
            </a:r>
          </a:p>
          <a:p>
            <a:r>
              <a:rPr lang="en-IN" sz="2400" dirty="0"/>
              <a:t>• Works well with small datasets</a:t>
            </a:r>
          </a:p>
          <a:p>
            <a:r>
              <a:rPr lang="en-IN" sz="2400" dirty="0"/>
              <a:t>• Handles non-linear patterns</a:t>
            </a:r>
          </a:p>
          <a:p>
            <a:r>
              <a:rPr lang="en-IN" sz="2400" dirty="0"/>
              <a:t>• Provides feature importance</a:t>
            </a:r>
          </a:p>
          <a:p>
            <a:r>
              <a:rPr lang="en-IN" sz="2400" dirty="0"/>
              <a:t>• No hyperparameter drama</a:t>
            </a:r>
          </a:p>
          <a:p>
            <a:r>
              <a:rPr lang="en-IN" sz="2400" dirty="0"/>
              <a:t>• Fast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8800" y="-419100"/>
            <a:ext cx="7340917" cy="1692178"/>
          </a:xfrm>
          <a:prstGeom prst="rect">
            <a:avLst/>
          </a:prstGeom>
        </p:spPr>
        <p:txBody>
          <a:bodyPr vert="horz" wrap="square" lIns="0" tIns="944293" rIns="0" bIns="0" rtlCol="0">
            <a:spAutoFit/>
          </a:bodyPr>
          <a:lstStyle/>
          <a:p>
            <a:pPr marL="97726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Prototypes/Outcomes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75C7B-B886-80B1-190D-7572E2A9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910" y="1562100"/>
            <a:ext cx="7685890" cy="670560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BD55F6B-FF66-E749-AD75-A49BD5E6B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73078"/>
            <a:ext cx="4953000" cy="439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C6C16FC-302D-B629-D3DE-B9F8F9B74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20" y="5631827"/>
            <a:ext cx="7670959" cy="457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5293" y="678205"/>
            <a:ext cx="3576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2850" algn="l"/>
              </a:tabLst>
            </a:pPr>
            <a:r>
              <a:rPr spc="-10" dirty="0"/>
              <a:t>Research</a:t>
            </a:r>
            <a:r>
              <a:rPr dirty="0"/>
              <a:t>	</a:t>
            </a:r>
            <a:r>
              <a:rPr spc="-90" dirty="0"/>
              <a:t>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379" y="734731"/>
            <a:ext cx="25412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322</Words>
  <Application>Microsoft Office PowerPoint</Application>
  <PresentationFormat>Custom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Wingdings</vt:lpstr>
      <vt:lpstr>Office Theme</vt:lpstr>
      <vt:lpstr>Xen-V-Thon</vt:lpstr>
      <vt:lpstr>Introduction</vt:lpstr>
      <vt:lpstr>Problem statement</vt:lpstr>
      <vt:lpstr>Objectives</vt:lpstr>
      <vt:lpstr>Methodology/Technical approach (flow chart/Images)</vt:lpstr>
      <vt:lpstr>Prototypes/Outcomes</vt:lpstr>
      <vt:lpstr>Research Gap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•Problem Statement ID – •Problem Statement Title- •Theme- •PS Category- SoftwareHardware •Team ID- •Team Name (Registered on portal).pdf</dc:title>
  <dc:creator>TSK Thiru</dc:creator>
  <cp:keywords>DAG_C7LYsGo,BAF3a9OlvWI,0</cp:keywords>
  <cp:lastModifiedBy>Kishor Bhuvaneswaran</cp:lastModifiedBy>
  <cp:revision>2</cp:revision>
  <dcterms:created xsi:type="dcterms:W3CDTF">2026-02-01T04:51:20Z</dcterms:created>
  <dcterms:modified xsi:type="dcterms:W3CDTF">2026-02-01T06:53:30Z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2026-02-01T00:00:00Z</vt:filetime>
  </property>
  <property fmtid="{D5CDD505-2E9C-101B-9397-08002B2CF9AE}" pid="5" name="Producer">
    <vt:lpwstr>Canva</vt:lpwstr>
  </property>
</Properties>
</file>